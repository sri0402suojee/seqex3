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3" r:id="rId4"/>
    <p:sldId id="258" r:id="rId5"/>
    <p:sldId id="265" r:id="rId6"/>
    <p:sldId id="264" r:id="rId7"/>
    <p:sldId id="269" r:id="rId8"/>
    <p:sldId id="266" r:id="rId9"/>
    <p:sldId id="267" r:id="rId10"/>
    <p:sldId id="268" r:id="rId11"/>
    <p:sldId id="261" r:id="rId12"/>
    <p:sldId id="262" r:id="rId13"/>
  </p:sldIdLst>
  <p:sldSz cx="14630400" cy="8229600"/>
  <p:notesSz cx="8229600" cy="14630400"/>
  <p:embeddedFontLst>
    <p:embeddedFont>
      <p:font typeface="Arial Black" panose="020B0A04020102020204" pitchFamily="34" charset="0"/>
      <p:bold r:id="rId15"/>
    </p:embeddedFont>
    <p:embeddedFont>
      <p:font typeface="Arimo" panose="020B0604020202020204" charset="0"/>
      <p:regular r:id="rId16"/>
    </p:embeddedFont>
    <p:embeddedFont>
      <p:font typeface="Outfit Extra Bold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92">
          <p15:clr>
            <a:srgbClr val="A4A3A4"/>
          </p15:clr>
        </p15:guide>
        <p15:guide id="2" pos="460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5FE967-6E17-4339-9CC9-7FA196E9029E}" v="19" dt="2025-05-01T13:34:40.3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390" autoAdjust="0"/>
    <p:restoredTop sz="94610"/>
  </p:normalViewPr>
  <p:slideViewPr>
    <p:cSldViewPr snapToGrid="0" snapToObjects="1">
      <p:cViewPr varScale="1">
        <p:scale>
          <a:sx n="57" d="100"/>
          <a:sy n="57" d="100"/>
        </p:scale>
        <p:origin x="972" y="84"/>
      </p:cViewPr>
      <p:guideLst>
        <p:guide orient="horz" pos="2592"/>
        <p:guide pos="460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ritama Banerjee" userId="372dd45da8bee880" providerId="LiveId" clId="{065FE967-6E17-4339-9CC9-7FA196E9029E}"/>
    <pc:docChg chg="custSel modSld sldOrd">
      <pc:chgData name="Sritama Banerjee" userId="372dd45da8bee880" providerId="LiveId" clId="{065FE967-6E17-4339-9CC9-7FA196E9029E}" dt="2025-05-01T13:34:40.389" v="82"/>
      <pc:docMkLst>
        <pc:docMk/>
      </pc:docMkLst>
      <pc:sldChg chg="modSp mod modAnim">
        <pc:chgData name="Sritama Banerjee" userId="372dd45da8bee880" providerId="LiveId" clId="{065FE967-6E17-4339-9CC9-7FA196E9029E}" dt="2025-05-01T13:28:24.547" v="56"/>
        <pc:sldMkLst>
          <pc:docMk/>
          <pc:sldMk cId="0" sldId="256"/>
        </pc:sldMkLst>
        <pc:spChg chg="mod">
          <ac:chgData name="Sritama Banerjee" userId="372dd45da8bee880" providerId="LiveId" clId="{065FE967-6E17-4339-9CC9-7FA196E9029E}" dt="2025-05-01T13:27:32.782" v="52" actId="14100"/>
          <ac:spMkLst>
            <pc:docMk/>
            <pc:sldMk cId="0" sldId="256"/>
            <ac:spMk id="4" creationId="{00000000-0000-0000-0000-000000000000}"/>
          </ac:spMkLst>
        </pc:spChg>
      </pc:sldChg>
      <pc:sldChg chg="addSp modSp mod modAnim">
        <pc:chgData name="Sritama Banerjee" userId="372dd45da8bee880" providerId="LiveId" clId="{065FE967-6E17-4339-9CC9-7FA196E9029E}" dt="2025-05-01T13:28:37.209" v="58"/>
        <pc:sldMkLst>
          <pc:docMk/>
          <pc:sldMk cId="0" sldId="257"/>
        </pc:sldMkLst>
        <pc:spChg chg="mod">
          <ac:chgData name="Sritama Banerjee" userId="372dd45da8bee880" providerId="LiveId" clId="{065FE967-6E17-4339-9CC9-7FA196E9029E}" dt="2025-05-01T13:15:41.440" v="30" actId="2711"/>
          <ac:spMkLst>
            <pc:docMk/>
            <pc:sldMk cId="0" sldId="257"/>
            <ac:spMk id="3" creationId="{00000000-0000-0000-0000-000000000000}"/>
          </ac:spMkLst>
        </pc:spChg>
        <pc:picChg chg="mod">
          <ac:chgData name="Sritama Banerjee" userId="372dd45da8bee880" providerId="LiveId" clId="{065FE967-6E17-4339-9CC9-7FA196E9029E}" dt="2025-05-01T13:13:38.797" v="21" actId="1076"/>
          <ac:picMkLst>
            <pc:docMk/>
            <pc:sldMk cId="0" sldId="257"/>
            <ac:picMk id="6" creationId="{00000000-0000-0000-0000-000000000000}"/>
          </ac:picMkLst>
        </pc:picChg>
        <pc:picChg chg="add mod modCrop">
          <ac:chgData name="Sritama Banerjee" userId="372dd45da8bee880" providerId="LiveId" clId="{065FE967-6E17-4339-9CC9-7FA196E9029E}" dt="2025-05-01T13:13:34.933" v="20" actId="1076"/>
          <ac:picMkLst>
            <pc:docMk/>
            <pc:sldMk cId="0" sldId="257"/>
            <ac:picMk id="8" creationId="{6BF94C01-5FFD-5CB6-DE71-C4E28D8DADFF}"/>
          </ac:picMkLst>
        </pc:picChg>
      </pc:sldChg>
      <pc:sldChg chg="modSp mod modAnim">
        <pc:chgData name="Sritama Banerjee" userId="372dd45da8bee880" providerId="LiveId" clId="{065FE967-6E17-4339-9CC9-7FA196E9029E}" dt="2025-05-01T13:29:18.418" v="60"/>
        <pc:sldMkLst>
          <pc:docMk/>
          <pc:sldMk cId="0" sldId="258"/>
        </pc:sldMkLst>
        <pc:spChg chg="mod">
          <ac:chgData name="Sritama Banerjee" userId="372dd45da8bee880" providerId="LiveId" clId="{065FE967-6E17-4339-9CC9-7FA196E9029E}" dt="2025-05-01T13:15:55.855" v="31" actId="2711"/>
          <ac:spMkLst>
            <pc:docMk/>
            <pc:sldMk cId="0" sldId="258"/>
            <ac:spMk id="3" creationId="{00000000-0000-0000-0000-000000000000}"/>
          </ac:spMkLst>
        </pc:spChg>
        <pc:spChg chg="mod">
          <ac:chgData name="Sritama Banerjee" userId="372dd45da8bee880" providerId="LiveId" clId="{065FE967-6E17-4339-9CC9-7FA196E9029E}" dt="2025-05-01T13:14:32.469" v="28" actId="1076"/>
          <ac:spMkLst>
            <pc:docMk/>
            <pc:sldMk cId="0" sldId="258"/>
            <ac:spMk id="16" creationId="{306999D3-ABA5-A11C-B2FF-291909041AC8}"/>
          </ac:spMkLst>
        </pc:spChg>
      </pc:sldChg>
      <pc:sldChg chg="modSp mod modAnim">
        <pc:chgData name="Sritama Banerjee" userId="372dd45da8bee880" providerId="LiveId" clId="{065FE967-6E17-4339-9CC9-7FA196E9029E}" dt="2025-05-01T13:28:48.547" v="59"/>
        <pc:sldMkLst>
          <pc:docMk/>
          <pc:sldMk cId="2577858483" sldId="263"/>
        </pc:sldMkLst>
        <pc:spChg chg="mod">
          <ac:chgData name="Sritama Banerjee" userId="372dd45da8bee880" providerId="LiveId" clId="{065FE967-6E17-4339-9CC9-7FA196E9029E}" dt="2025-05-01T13:14:16.827" v="27" actId="207"/>
          <ac:spMkLst>
            <pc:docMk/>
            <pc:sldMk cId="2577858483" sldId="263"/>
            <ac:spMk id="5" creationId="{98B4A5AE-F095-4785-A728-91FEBD4EC8CA}"/>
          </ac:spMkLst>
        </pc:spChg>
        <pc:spChg chg="mod">
          <ac:chgData name="Sritama Banerjee" userId="372dd45da8bee880" providerId="LiveId" clId="{065FE967-6E17-4339-9CC9-7FA196E9029E}" dt="2025-05-01T13:14:11.572" v="26" actId="207"/>
          <ac:spMkLst>
            <pc:docMk/>
            <pc:sldMk cId="2577858483" sldId="263"/>
            <ac:spMk id="8" creationId="{2E230DE0-EC31-68D1-7E85-4019D2E4C1FC}"/>
          </ac:spMkLst>
        </pc:spChg>
        <pc:picChg chg="mod">
          <ac:chgData name="Sritama Banerjee" userId="372dd45da8bee880" providerId="LiveId" clId="{065FE967-6E17-4339-9CC9-7FA196E9029E}" dt="2025-05-01T13:13:54.246" v="24" actId="1076"/>
          <ac:picMkLst>
            <pc:docMk/>
            <pc:sldMk cId="2577858483" sldId="263"/>
            <ac:picMk id="2" creationId="{00000000-0000-0000-0000-000000000000}"/>
          </ac:picMkLst>
        </pc:picChg>
      </pc:sldChg>
      <pc:sldChg chg="modSp mod modAnim">
        <pc:chgData name="Sritama Banerjee" userId="372dd45da8bee880" providerId="LiveId" clId="{065FE967-6E17-4339-9CC9-7FA196E9029E}" dt="2025-05-01T13:30:31.509" v="70"/>
        <pc:sldMkLst>
          <pc:docMk/>
          <pc:sldMk cId="3129445430" sldId="264"/>
        </pc:sldMkLst>
        <pc:spChg chg="mod">
          <ac:chgData name="Sritama Banerjee" userId="372dd45da8bee880" providerId="LiveId" clId="{065FE967-6E17-4339-9CC9-7FA196E9029E}" dt="2025-05-01T13:16:18.478" v="32" actId="255"/>
          <ac:spMkLst>
            <pc:docMk/>
            <pc:sldMk cId="3129445430" sldId="264"/>
            <ac:spMk id="5" creationId="{E8F4E9C9-D7EC-35E0-5FA6-A4499F848F22}"/>
          </ac:spMkLst>
        </pc:spChg>
      </pc:sldChg>
      <pc:sldChg chg="modSp mod">
        <pc:chgData name="Sritama Banerjee" userId="372dd45da8bee880" providerId="LiveId" clId="{065FE967-6E17-4339-9CC9-7FA196E9029E}" dt="2025-05-01T13:30:24.573" v="69" actId="1076"/>
        <pc:sldMkLst>
          <pc:docMk/>
          <pc:sldMk cId="3030604328" sldId="265"/>
        </pc:sldMkLst>
        <pc:spChg chg="mod">
          <ac:chgData name="Sritama Banerjee" userId="372dd45da8bee880" providerId="LiveId" clId="{065FE967-6E17-4339-9CC9-7FA196E9029E}" dt="2025-05-01T13:29:55.291" v="61" actId="1076"/>
          <ac:spMkLst>
            <pc:docMk/>
            <pc:sldMk cId="3030604328" sldId="265"/>
            <ac:spMk id="3" creationId="{1975B366-35C1-68C6-2C4B-4910A7E8C7B6}"/>
          </ac:spMkLst>
        </pc:spChg>
        <pc:spChg chg="mod">
          <ac:chgData name="Sritama Banerjee" userId="372dd45da8bee880" providerId="LiveId" clId="{065FE967-6E17-4339-9CC9-7FA196E9029E}" dt="2025-05-01T13:30:24.573" v="69" actId="1076"/>
          <ac:spMkLst>
            <pc:docMk/>
            <pc:sldMk cId="3030604328" sldId="265"/>
            <ac:spMk id="5" creationId="{2767E764-49C8-574B-329D-C236A8BDE7B0}"/>
          </ac:spMkLst>
        </pc:spChg>
      </pc:sldChg>
      <pc:sldChg chg="addSp delSp modSp mod modAnim">
        <pc:chgData name="Sritama Banerjee" userId="372dd45da8bee880" providerId="LiveId" clId="{065FE967-6E17-4339-9CC9-7FA196E9029E}" dt="2025-05-01T13:34:22.941" v="80"/>
        <pc:sldMkLst>
          <pc:docMk/>
          <pc:sldMk cId="1058209548" sldId="266"/>
        </pc:sldMkLst>
        <pc:spChg chg="mod">
          <ac:chgData name="Sritama Banerjee" userId="372dd45da8bee880" providerId="LiveId" clId="{065FE967-6E17-4339-9CC9-7FA196E9029E}" dt="2025-05-01T13:16:36.542" v="36" actId="1076"/>
          <ac:spMkLst>
            <pc:docMk/>
            <pc:sldMk cId="1058209548" sldId="266"/>
            <ac:spMk id="2" creationId="{AAD906E3-6466-2D8A-70A4-D7B6C8293287}"/>
          </ac:spMkLst>
        </pc:spChg>
        <pc:picChg chg="add mod">
          <ac:chgData name="Sritama Banerjee" userId="372dd45da8bee880" providerId="LiveId" clId="{065FE967-6E17-4339-9CC9-7FA196E9029E}" dt="2025-05-01T13:33:42.985" v="73" actId="1076"/>
          <ac:picMkLst>
            <pc:docMk/>
            <pc:sldMk cId="1058209548" sldId="266"/>
            <ac:picMk id="4" creationId="{00000000-0000-0000-0000-000000000000}"/>
          </ac:picMkLst>
        </pc:picChg>
        <pc:picChg chg="del mod">
          <ac:chgData name="Sritama Banerjee" userId="372dd45da8bee880" providerId="LiveId" clId="{065FE967-6E17-4339-9CC9-7FA196E9029E}" dt="2025-05-01T13:17:31.058" v="45" actId="21"/>
          <ac:picMkLst>
            <pc:docMk/>
            <pc:sldMk cId="1058209548" sldId="266"/>
            <ac:picMk id="5" creationId="{00000000-0000-0000-0000-000000000000}"/>
          </ac:picMkLst>
        </pc:picChg>
        <pc:picChg chg="del mod">
          <ac:chgData name="Sritama Banerjee" userId="372dd45da8bee880" providerId="LiveId" clId="{065FE967-6E17-4339-9CC9-7FA196E9029E}" dt="2025-05-01T13:33:45.414" v="74" actId="21"/>
          <ac:picMkLst>
            <pc:docMk/>
            <pc:sldMk cId="1058209548" sldId="266"/>
            <ac:picMk id="6" creationId="{00000000-0000-0000-0000-000000000000}"/>
          </ac:picMkLst>
        </pc:picChg>
        <pc:picChg chg="add mod">
          <ac:chgData name="Sritama Banerjee" userId="372dd45da8bee880" providerId="LiveId" clId="{065FE967-6E17-4339-9CC9-7FA196E9029E}" dt="2025-05-01T13:33:50.164" v="76" actId="1076"/>
          <ac:picMkLst>
            <pc:docMk/>
            <pc:sldMk cId="1058209548" sldId="266"/>
            <ac:picMk id="7" creationId="{00000000-0000-0000-0000-000000000000}"/>
          </ac:picMkLst>
        </pc:picChg>
      </pc:sldChg>
      <pc:sldChg chg="modAnim">
        <pc:chgData name="Sritama Banerjee" userId="372dd45da8bee880" providerId="LiveId" clId="{065FE967-6E17-4339-9CC9-7FA196E9029E}" dt="2025-05-01T13:34:27.104" v="81"/>
        <pc:sldMkLst>
          <pc:docMk/>
          <pc:sldMk cId="2463474742" sldId="267"/>
        </pc:sldMkLst>
      </pc:sldChg>
      <pc:sldChg chg="modAnim">
        <pc:chgData name="Sritama Banerjee" userId="372dd45da8bee880" providerId="LiveId" clId="{065FE967-6E17-4339-9CC9-7FA196E9029E}" dt="2025-05-01T13:34:40.389" v="82"/>
        <pc:sldMkLst>
          <pc:docMk/>
          <pc:sldMk cId="2767621263" sldId="268"/>
        </pc:sldMkLst>
      </pc:sldChg>
      <pc:sldChg chg="ord modAnim">
        <pc:chgData name="Sritama Banerjee" userId="372dd45da8bee880" providerId="LiveId" clId="{065FE967-6E17-4339-9CC9-7FA196E9029E}" dt="2025-05-01T13:34:16.202" v="78"/>
        <pc:sldMkLst>
          <pc:docMk/>
          <pc:sldMk cId="3803045839" sldId="26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565525" cy="7318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660900" y="0"/>
            <a:ext cx="3567113" cy="7318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49FB6D-8420-4A47-9A4B-C320041F4783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762000" y="1096963"/>
            <a:ext cx="9753600" cy="5486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822325" y="6950075"/>
            <a:ext cx="6584950" cy="65833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3896975"/>
            <a:ext cx="3565525" cy="7302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660900" y="13896975"/>
            <a:ext cx="3567113" cy="7302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F083A4-98BD-46CC-A472-3EC9A29959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3439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hyperlink" Target="AtCol0_Exons.fasta%20(1)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4455" y="1856977"/>
            <a:ext cx="8113145" cy="3781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IN" sz="4800" dirty="0">
                <a:solidFill>
                  <a:srgbClr val="002060"/>
                </a:solidFill>
                <a:latin typeface="Arial Black" panose="020B0A04020102020204" pitchFamily="34" charset="0"/>
              </a:rPr>
              <a:t>P3: Update seqex3.py</a:t>
            </a:r>
          </a:p>
          <a:p>
            <a:pPr marL="0" indent="0" algn="l">
              <a:lnSpc>
                <a:spcPts val="5550"/>
              </a:lnSpc>
              <a:buNone/>
            </a:pPr>
            <a:endParaRPr lang="en-IN" sz="4800" dirty="0">
              <a:solidFill>
                <a:srgbClr val="002060"/>
              </a:solidFill>
              <a:latin typeface="Arial Black" panose="020B0A04020102020204" pitchFamily="34" charset="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2800" dirty="0">
                <a:solidFill>
                  <a:srgbClr val="002060"/>
                </a:solidFill>
                <a:latin typeface="Arial Black" panose="020B0A04020102020204" pitchFamily="34" charset="0"/>
              </a:rPr>
              <a:t>Presented by Sritama Banerjee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2800" dirty="0">
                <a:solidFill>
                  <a:srgbClr val="002060"/>
                </a:solidFill>
                <a:latin typeface="Arial Black" panose="020B0A04020102020204" pitchFamily="34" charset="0"/>
              </a:rPr>
              <a:t>Master’s in Plant Science Dept.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2800" dirty="0">
                <a:solidFill>
                  <a:srgbClr val="002060"/>
                </a:solidFill>
                <a:latin typeface="Arial Black" panose="020B0A04020102020204" pitchFamily="34" charset="0"/>
              </a:rPr>
              <a:t>2</a:t>
            </a:r>
            <a:r>
              <a:rPr lang="en-US" sz="2800" baseline="30000" dirty="0">
                <a:solidFill>
                  <a:srgbClr val="002060"/>
                </a:solidFill>
                <a:latin typeface="Arial Black" panose="020B0A04020102020204" pitchFamily="34" charset="0"/>
              </a:rPr>
              <a:t>nd</a:t>
            </a:r>
            <a:r>
              <a:rPr lang="en-US" sz="2800" dirty="0">
                <a:solidFill>
                  <a:srgbClr val="002060"/>
                </a:solidFill>
                <a:latin typeface="Arial Black" panose="020B0A04020102020204" pitchFamily="34" charset="0"/>
              </a:rPr>
              <a:t> Semester </a:t>
            </a:r>
          </a:p>
        </p:txBody>
      </p:sp>
      <p:sp>
        <p:nvSpPr>
          <p:cNvPr id="4" name="Text 1"/>
          <p:cNvSpPr/>
          <p:nvPr/>
        </p:nvSpPr>
        <p:spPr>
          <a:xfrm>
            <a:off x="624455" y="5275897"/>
            <a:ext cx="619967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Introducing a Python script to extract specific regions from biological sequences efficiently.</a:t>
            </a:r>
            <a:endParaRPr lang="en-US" sz="175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6341" y="1078028"/>
            <a:ext cx="5410200" cy="611204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2907478" y="7691450"/>
            <a:ext cx="1636295" cy="5381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74179" y="24782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1971"/>
                </a:solidFill>
                <a:latin typeface="Arial" panose="020B0604020202020204" pitchFamily="34" charset="0"/>
                <a:ea typeface="Outfit Extra Bold" pitchFamily="34" charset="-122"/>
                <a:cs typeface="Arial" panose="020B0604020202020204" pitchFamily="34" charset="0"/>
              </a:rPr>
              <a:t>Background</a:t>
            </a:r>
            <a:endParaRPr lang="en-US" sz="44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421945" y="1571074"/>
            <a:ext cx="6893255" cy="5077688"/>
          </a:xfrm>
          <a:prstGeom prst="roundRect">
            <a:avLst>
              <a:gd name="adj" fmla="val 7974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FASTA file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  <a:r>
              <a:rPr lang="en-US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A T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ext-based format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Stores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DNA, RNA, or protein sequences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Each sequence starts with 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header line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beginning with ‘&gt;’(e.g., &gt;gene1)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ith following lines contain the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sequence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itself (A, T, G, C for DNA).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Key Point: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 tool 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alt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n 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genomics and bioinformatics</a:t>
            </a:r>
            <a:endParaRPr lang="en-IN" sz="2400" dirty="0"/>
          </a:p>
        </p:txBody>
      </p:sp>
      <p:sp>
        <p:nvSpPr>
          <p:cNvPr id="5" name="Text 2"/>
          <p:cNvSpPr/>
          <p:nvPr/>
        </p:nvSpPr>
        <p:spPr>
          <a:xfrm>
            <a:off x="6514624" y="3747016"/>
            <a:ext cx="31959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633" y="222302"/>
            <a:ext cx="5959441" cy="457615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Rectangle 6"/>
          <p:cNvSpPr/>
          <p:nvPr/>
        </p:nvSpPr>
        <p:spPr>
          <a:xfrm>
            <a:off x="12907478" y="7691450"/>
            <a:ext cx="1636295" cy="5381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BF94C01-5FFD-5CB6-DE71-C4E28D8DADF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0978" t="13194" r="20977" b="6018"/>
          <a:stretch/>
        </p:blipFill>
        <p:spPr>
          <a:xfrm>
            <a:off x="6760278" y="2535905"/>
            <a:ext cx="7297340" cy="57102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1">
            <a:extLst>
              <a:ext uri="{FF2B5EF4-FFF2-40B4-BE49-F238E27FC236}">
                <a16:creationId xmlns:a16="http://schemas.microsoft.com/office/drawing/2014/main" id="{98B4A5AE-F095-4785-A728-91FEBD4EC8CA}"/>
              </a:ext>
            </a:extLst>
          </p:cNvPr>
          <p:cNvSpPr/>
          <p:nvPr/>
        </p:nvSpPr>
        <p:spPr>
          <a:xfrm>
            <a:off x="471358" y="572427"/>
            <a:ext cx="8932524" cy="2859421"/>
          </a:xfrm>
          <a:prstGeom prst="roundRect">
            <a:avLst>
              <a:gd name="adj" fmla="val 7974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Seqex</a:t>
            </a:r>
            <a:r>
              <a:rPr lang="en-US" sz="24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is short for "sequence extractor“.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For scripts or tools like seqex3.py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Extract specific regions from biological sequences (usually DNA or RNA) stored in FASTA files.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IN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230DE0-EC31-68D1-7E85-4019D2E4C1FC}"/>
              </a:ext>
            </a:extLst>
          </p:cNvPr>
          <p:cNvSpPr txBox="1"/>
          <p:nvPr/>
        </p:nvSpPr>
        <p:spPr>
          <a:xfrm>
            <a:off x="1668098" y="4882139"/>
            <a:ext cx="9993443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4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Why is it used in bioinformatics?</a:t>
            </a:r>
          </a:p>
          <a:p>
            <a:pPr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Extract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genes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exons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or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regulatory elements</a:t>
            </a:r>
          </a:p>
          <a:p>
            <a:pPr algn="ctr"/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Add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flanking regions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- primer design or CRISPR targeting</a:t>
            </a:r>
          </a:p>
          <a:p>
            <a:pPr algn="ctr"/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Handle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batch extractions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across a genome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2183" y="335098"/>
            <a:ext cx="4908884" cy="4033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7858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04823" y="5131391"/>
            <a:ext cx="262075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1971"/>
                </a:solidFill>
                <a:latin typeface="Arial" panose="020B0604020202020204" pitchFamily="34" charset="0"/>
                <a:ea typeface="Outfit Extra Bold" pitchFamily="34" charset="-122"/>
                <a:cs typeface="Arial" panose="020B0604020202020204" pitchFamily="34" charset="0"/>
              </a:rPr>
              <a:t>Objective</a:t>
            </a:r>
            <a:endParaRPr lang="en-US" sz="44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558933" y="6214155"/>
            <a:ext cx="170021" cy="362903"/>
          </a:xfrm>
          <a:prstGeom prst="roundRect">
            <a:avLst>
              <a:gd name="adj" fmla="val 56033"/>
            </a:avLst>
          </a:prstGeom>
          <a:solidFill>
            <a:srgbClr val="7030A0"/>
          </a:solidFill>
          <a:ln w="7620">
            <a:solidFill>
              <a:srgbClr val="BDB8DF"/>
            </a:solidFill>
            <a:prstDash val="solid"/>
          </a:ln>
        </p:spPr>
        <p:txBody>
          <a:bodyPr/>
          <a:lstStyle/>
          <a:p>
            <a:endParaRPr lang="en-IN" dirty="0">
              <a:solidFill>
                <a:srgbClr val="00B0F0"/>
              </a:solidFill>
            </a:endParaRPr>
          </a:p>
        </p:txBody>
      </p:sp>
      <p:sp>
        <p:nvSpPr>
          <p:cNvPr id="5" name="Text 2"/>
          <p:cNvSpPr/>
          <p:nvPr/>
        </p:nvSpPr>
        <p:spPr>
          <a:xfrm>
            <a:off x="901726" y="6214155"/>
            <a:ext cx="8910489" cy="4945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Extract a specified target region from a given FASTA file </a:t>
            </a:r>
            <a:endParaRPr lang="en-IN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559324" y="6762999"/>
            <a:ext cx="170021" cy="362903"/>
          </a:xfrm>
          <a:prstGeom prst="roundRect">
            <a:avLst>
              <a:gd name="adj" fmla="val 56033"/>
            </a:avLst>
          </a:prstGeom>
          <a:solidFill>
            <a:srgbClr val="7030A0"/>
          </a:solidFill>
          <a:ln w="7620">
            <a:solidFill>
              <a:srgbClr val="BDB8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559324" y="7328547"/>
            <a:ext cx="170021" cy="362903"/>
          </a:xfrm>
          <a:prstGeom prst="roundRect">
            <a:avLst>
              <a:gd name="adj" fmla="val 56033"/>
            </a:avLst>
          </a:prstGeom>
          <a:solidFill>
            <a:srgbClr val="7030A0"/>
          </a:solidFill>
          <a:ln w="7620">
            <a:solidFill>
              <a:srgbClr val="BDB8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 rot="10800000" flipV="1">
            <a:off x="887563" y="6786511"/>
            <a:ext cx="12855272" cy="472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800" dirty="0"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An update is needed to supply numerous target regions through a text file table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1F7A049-01AC-F72E-DB2A-BD521379E353}"/>
              </a:ext>
            </a:extLst>
          </p:cNvPr>
          <p:cNvSpPr txBox="1"/>
          <p:nvPr/>
        </p:nvSpPr>
        <p:spPr>
          <a:xfrm>
            <a:off x="747124" y="7277883"/>
            <a:ext cx="11732803" cy="4642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800" dirty="0">
                <a:latin typeface="Arial" panose="020B0604020202020204" pitchFamily="34" charset="0"/>
                <a:ea typeface="Arimo" pitchFamily="34" charset="-122"/>
                <a:cs typeface="Arial" panose="020B0604020202020204" pitchFamily="34" charset="0"/>
              </a:rPr>
              <a:t>Read table and extract all specified regions and the code is import re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 1">
            <a:extLst>
              <a:ext uri="{FF2B5EF4-FFF2-40B4-BE49-F238E27FC236}">
                <a16:creationId xmlns:a16="http://schemas.microsoft.com/office/drawing/2014/main" id="{306999D3-ABA5-A11C-B2FF-291909041A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0465" y="543926"/>
            <a:ext cx="8016006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Original seqex3.py Limitations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nly one region at a time (manual input).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Inefficient for large datasets.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No built-in support - batch extraction.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Lacked error handling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2907478" y="7691450"/>
            <a:ext cx="1636295" cy="5381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9" grpId="0" animBg="1"/>
      <p:bldP spid="1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975B366-35C1-68C6-2C4B-4910A7E8C7B6}"/>
              </a:ext>
            </a:extLst>
          </p:cNvPr>
          <p:cNvSpPr txBox="1"/>
          <p:nvPr/>
        </p:nvSpPr>
        <p:spPr>
          <a:xfrm>
            <a:off x="762000" y="448045"/>
            <a:ext cx="73152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Code Workflow Diagram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67E764-49C8-574B-329D-C236A8BDE7B0}"/>
              </a:ext>
            </a:extLst>
          </p:cNvPr>
          <p:cNvSpPr txBox="1"/>
          <p:nvPr/>
        </p:nvSpPr>
        <p:spPr>
          <a:xfrm>
            <a:off x="220132" y="1618892"/>
            <a:ext cx="8203543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 algn="ctr">
              <a:buFont typeface="Wingdings" panose="05000000000000000000" pitchFamily="2" charset="2"/>
              <a:buChar char="§"/>
            </a:pPr>
            <a:r>
              <a:rPr lang="en-IN" sz="3200" dirty="0">
                <a:latin typeface="Arial" panose="020B0604020202020204" pitchFamily="34" charset="0"/>
                <a:cs typeface="Arial" panose="020B0604020202020204" pitchFamily="34" charset="0"/>
              </a:rPr>
              <a:t>FASTA File + Region Table</a:t>
            </a:r>
          </a:p>
          <a:p>
            <a:pPr algn="ctr"/>
            <a:r>
              <a:rPr lang="en-IN" sz="3200" dirty="0">
                <a:latin typeface="Arial" panose="020B0604020202020204" pitchFamily="34" charset="0"/>
                <a:cs typeface="Arial" panose="020B0604020202020204" pitchFamily="34" charset="0"/>
              </a:rPr>
              <a:t>  ↓</a:t>
            </a:r>
          </a:p>
          <a:p>
            <a:pPr algn="ctr"/>
            <a:endParaRPr lang="en-IN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 algn="ctr">
              <a:buFont typeface="Wingdings" panose="05000000000000000000" pitchFamily="2" charset="2"/>
              <a:buChar char="§"/>
            </a:pPr>
            <a:r>
              <a:rPr lang="en-IN" sz="3200" dirty="0" err="1">
                <a:latin typeface="Arial" panose="020B0604020202020204" pitchFamily="34" charset="0"/>
                <a:cs typeface="Arial" panose="020B0604020202020204" pitchFamily="34" charset="0"/>
              </a:rPr>
              <a:t>load_multiple_fasta_file</a:t>
            </a:r>
            <a:endParaRPr lang="en-IN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200" dirty="0">
                <a:latin typeface="Arial" panose="020B0604020202020204" pitchFamily="34" charset="0"/>
                <a:cs typeface="Arial" panose="020B0604020202020204" pitchFamily="34" charset="0"/>
              </a:rPr>
              <a:t>   ↓</a:t>
            </a:r>
          </a:p>
          <a:p>
            <a:pPr algn="ctr"/>
            <a:endParaRPr lang="en-IN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 algn="ctr">
              <a:buFont typeface="Wingdings" panose="05000000000000000000" pitchFamily="2" charset="2"/>
              <a:buChar char="§"/>
            </a:pPr>
            <a:r>
              <a:rPr lang="en-IN" sz="3200" dirty="0" err="1">
                <a:latin typeface="Arial" panose="020B0604020202020204" pitchFamily="34" charset="0"/>
                <a:cs typeface="Arial" panose="020B0604020202020204" pitchFamily="34" charset="0"/>
              </a:rPr>
              <a:t>collect_sequence_regions</a:t>
            </a:r>
            <a:endParaRPr lang="en-IN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200" dirty="0">
                <a:latin typeface="Arial" panose="020B0604020202020204" pitchFamily="34" charset="0"/>
                <a:cs typeface="Arial" panose="020B0604020202020204" pitchFamily="34" charset="0"/>
              </a:rPr>
              <a:t>   ├─ Flank left/right</a:t>
            </a:r>
          </a:p>
          <a:p>
            <a:pPr algn="ctr"/>
            <a:r>
              <a:rPr lang="en-IN" sz="3200" dirty="0">
                <a:latin typeface="Arial" panose="020B0604020202020204" pitchFamily="34" charset="0"/>
                <a:cs typeface="Arial" panose="020B0604020202020204" pitchFamily="34" charset="0"/>
              </a:rPr>
              <a:t>   ├─ Optional reverse complement</a:t>
            </a:r>
          </a:p>
          <a:p>
            <a:pPr algn="ctr"/>
            <a:r>
              <a:rPr lang="en-IN" sz="3200" dirty="0">
                <a:latin typeface="Arial" panose="020B0604020202020204" pitchFamily="34" charset="0"/>
                <a:cs typeface="Arial" panose="020B0604020202020204" pitchFamily="34" charset="0"/>
              </a:rPr>
              <a:t>     ↓</a:t>
            </a:r>
          </a:p>
          <a:p>
            <a:pPr algn="ctr"/>
            <a:endParaRPr lang="en-IN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 algn="ctr">
              <a:buFont typeface="Wingdings" panose="05000000000000000000" pitchFamily="2" charset="2"/>
              <a:buChar char="§"/>
            </a:pPr>
            <a:r>
              <a:rPr lang="en-IN" sz="3200" dirty="0">
                <a:latin typeface="Arial" panose="020B0604020202020204" pitchFamily="34" charset="0"/>
                <a:cs typeface="Arial" panose="020B0604020202020204" pitchFamily="34" charset="0"/>
              </a:rPr>
              <a:t>FASTA Output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9286501" y="2554781"/>
            <a:ext cx="6214870" cy="3540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06043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F0890DC-E557-1DCD-8FEB-0EC35F9B3D26}"/>
              </a:ext>
            </a:extLst>
          </p:cNvPr>
          <p:cNvSpPr txBox="1"/>
          <p:nvPr/>
        </p:nvSpPr>
        <p:spPr>
          <a:xfrm>
            <a:off x="191433" y="1298644"/>
            <a:ext cx="6977411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400" dirty="0" err="1">
                <a:latin typeface="Arial" panose="020B0604020202020204" pitchFamily="34" charset="0"/>
                <a:cs typeface="Arial" panose="020B0604020202020204" pitchFamily="34" charset="0"/>
              </a:rPr>
              <a:t>load_multiple_fasta_file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: Parses FASTA, returns {header: sequence}</a:t>
            </a:r>
          </a:p>
          <a:p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400" dirty="0" err="1">
                <a:latin typeface="Arial" panose="020B0604020202020204" pitchFamily="34" charset="0"/>
                <a:cs typeface="Arial" panose="020B0604020202020204" pitchFamily="34" charset="0"/>
              </a:rPr>
              <a:t>get_sequence_region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: Slices a subsequence from a contig</a:t>
            </a:r>
          </a:p>
          <a:p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400" dirty="0" err="1">
                <a:latin typeface="Arial" panose="020B0604020202020204" pitchFamily="34" charset="0"/>
                <a:cs typeface="Arial" panose="020B0604020202020204" pitchFamily="34" charset="0"/>
              </a:rPr>
              <a:t>reverse_complement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: Converts DNA to reverse complement</a:t>
            </a:r>
          </a:p>
          <a:p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400" dirty="0" err="1">
                <a:latin typeface="Arial" panose="020B0604020202020204" pitchFamily="34" charset="0"/>
                <a:cs typeface="Arial" panose="020B0604020202020204" pitchFamily="34" charset="0"/>
              </a:rPr>
              <a:t>collect_sequence_regions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: Combines flanks + core, handles flags</a:t>
            </a:r>
          </a:p>
          <a:p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400" dirty="0" err="1">
                <a:latin typeface="Arial" panose="020B0604020202020204" pitchFamily="34" charset="0"/>
                <a:cs typeface="Arial" panose="020B0604020202020204" pitchFamily="34" charset="0"/>
              </a:rPr>
              <a:t>write_fasta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: Outputs formatted FASTA</a:t>
            </a:r>
          </a:p>
          <a:p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400" dirty="0" err="1">
                <a:latin typeface="Arial" panose="020B0604020202020204" pitchFamily="34" charset="0"/>
                <a:cs typeface="Arial" panose="020B0604020202020204" pitchFamily="34" charset="0"/>
              </a:rPr>
              <a:t>input_regions_manually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: Manual input (legacy)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F4E9C9-D7EC-35E0-5FA6-A4499F848F22}"/>
              </a:ext>
            </a:extLst>
          </p:cNvPr>
          <p:cNvSpPr txBox="1"/>
          <p:nvPr/>
        </p:nvSpPr>
        <p:spPr>
          <a:xfrm>
            <a:off x="146357" y="111044"/>
            <a:ext cx="73152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Core Functions Explained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1557" y="0"/>
            <a:ext cx="7168844" cy="8178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445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906E3-6466-2D8A-70A4-D7B6C8293287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5689600" cy="11430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SCRIPT LOGIC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84DE8C-8FA1-C66E-1CD6-57F3019856C2}"/>
              </a:ext>
            </a:extLst>
          </p:cNvPr>
          <p:cNvSpPr txBox="1">
            <a:spLocks/>
          </p:cNvSpPr>
          <p:nvPr/>
        </p:nvSpPr>
        <p:spPr>
          <a:xfrm>
            <a:off x="457200" y="1600200"/>
            <a:ext cx="8229600" cy="586740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600" y="1057416"/>
            <a:ext cx="11460724" cy="432738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0583" y="3318934"/>
            <a:ext cx="11051233" cy="4820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045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906E3-6466-2D8A-70A4-D7B6C8293287}"/>
              </a:ext>
            </a:extLst>
          </p:cNvPr>
          <p:cNvSpPr txBox="1">
            <a:spLocks/>
          </p:cNvSpPr>
          <p:nvPr/>
        </p:nvSpPr>
        <p:spPr>
          <a:xfrm>
            <a:off x="237041" y="287866"/>
            <a:ext cx="5198585" cy="11430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Updated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84DE8C-8FA1-C66E-1CD6-57F3019856C2}"/>
              </a:ext>
            </a:extLst>
          </p:cNvPr>
          <p:cNvSpPr txBox="1">
            <a:spLocks/>
          </p:cNvSpPr>
          <p:nvPr/>
        </p:nvSpPr>
        <p:spPr>
          <a:xfrm>
            <a:off x="457200" y="1600200"/>
            <a:ext cx="5215467" cy="586740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- Read multiple regions from text file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- Add flanking regions (±500 bp)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- Optional reverse complement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- Clean header parsing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- Error handling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2508" y="127000"/>
            <a:ext cx="8720692" cy="555413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0055" y="3369733"/>
            <a:ext cx="8690345" cy="4859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8209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D1E91-4348-6BAA-90FA-199314F34BF2}"/>
              </a:ext>
            </a:extLst>
          </p:cNvPr>
          <p:cNvSpPr txBox="1">
            <a:spLocks/>
          </p:cNvSpPr>
          <p:nvPr/>
        </p:nvSpPr>
        <p:spPr>
          <a:xfrm>
            <a:off x="457199" y="274638"/>
            <a:ext cx="7078133" cy="11430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Input Format (Text Table)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CA8249-6CFF-CFF2-D230-0DA69B7D0EF2}"/>
              </a:ext>
            </a:extLst>
          </p:cNvPr>
          <p:cNvSpPr txBox="1">
            <a:spLocks/>
          </p:cNvSpPr>
          <p:nvPr/>
        </p:nvSpPr>
        <p:spPr>
          <a:xfrm>
            <a:off x="457200" y="1610144"/>
            <a:ext cx="4707468" cy="4045589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Example regions.txt:</a:t>
            </a:r>
          </a:p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contig_name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start   end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chr1         1000    1200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chr2         2500    2700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Parsed line-by-line or with pandas.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4669" y="1090978"/>
            <a:ext cx="9008532" cy="667931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35332" y="7770296"/>
            <a:ext cx="51013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REVERSE COMPLEMENT</a:t>
            </a:r>
          </a:p>
        </p:txBody>
      </p:sp>
    </p:spTree>
    <p:extLst>
      <p:ext uri="{BB962C8B-B14F-4D97-AF65-F5344CB8AC3E}">
        <p14:creationId xmlns:p14="http://schemas.microsoft.com/office/powerpoint/2010/main" val="2463474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43F22-5653-CF8A-4797-7A226AE97274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Sample 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7232E5-77B3-6083-7E90-A6F2346B7819}"/>
              </a:ext>
            </a:extLst>
          </p:cNvPr>
          <p:cNvSpPr txBox="1">
            <a:spLocks/>
          </p:cNvSpPr>
          <p:nvPr/>
        </p:nvSpPr>
        <p:spPr>
          <a:xfrm>
            <a:off x="440267" y="1072877"/>
            <a:ext cx="7518400" cy="261859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&gt;chr1:500-1700</a:t>
            </a:r>
          </a:p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ggggctac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...ACGTTAGC...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ccgatttg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Lowercase: flanks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Uppercase: target region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80-character wrapped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209" y="4328976"/>
            <a:ext cx="12095181" cy="332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017924" y="7714423"/>
            <a:ext cx="4336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WITHOUT REVERSE COMPLEMENT</a:t>
            </a:r>
          </a:p>
        </p:txBody>
      </p:sp>
    </p:spTree>
    <p:extLst>
      <p:ext uri="{BB962C8B-B14F-4D97-AF65-F5344CB8AC3E}">
        <p14:creationId xmlns:p14="http://schemas.microsoft.com/office/powerpoint/2010/main" val="2767621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61524" y="433017"/>
            <a:ext cx="692562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Future Scope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349033" y="1488401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7030A0"/>
          </a:solidFill>
          <a:ln w="7620">
            <a:solidFill>
              <a:srgbClr val="BDB8DF"/>
            </a:solidFill>
            <a:prstDash val="solid"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351222" y="2604295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7030A0"/>
          </a:solidFill>
          <a:ln w="7620">
            <a:solidFill>
              <a:srgbClr val="BDB8DF"/>
            </a:solidFill>
            <a:prstDash val="solid"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349033" y="3797578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7030A0"/>
          </a:solidFill>
          <a:ln w="7620">
            <a:solidFill>
              <a:srgbClr val="BDB8DF"/>
            </a:solidFill>
            <a:prstDash val="solid"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351222" y="4939817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7030A0"/>
          </a:solidFill>
          <a:ln w="7620">
            <a:solidFill>
              <a:srgbClr val="BDB8DF"/>
            </a:solidFill>
            <a:prstDash val="solid"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7017306" y="5903714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3E96978-6D48-2036-1B18-DB90576A583E}"/>
              </a:ext>
            </a:extLst>
          </p:cNvPr>
          <p:cNvSpPr txBox="1">
            <a:spLocks/>
          </p:cNvSpPr>
          <p:nvPr/>
        </p:nvSpPr>
        <p:spPr>
          <a:xfrm>
            <a:off x="861524" y="1418814"/>
            <a:ext cx="9008533" cy="4525963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 CSV/TSV file support with pandas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GUI (e.g., </a:t>
            </a:r>
            <a:r>
              <a:rPr lang="en-US" dirty="0" err="1"/>
              <a:t>Streamlit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 BED file compatibility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 Batch multiprocessing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Unit tests and benchmarking</a:t>
            </a:r>
          </a:p>
        </p:txBody>
      </p:sp>
      <p:sp>
        <p:nvSpPr>
          <p:cNvPr id="14" name="Shape 7">
            <a:extLst>
              <a:ext uri="{FF2B5EF4-FFF2-40B4-BE49-F238E27FC236}">
                <a16:creationId xmlns:a16="http://schemas.microsoft.com/office/drawing/2014/main" id="{30244CF7-8680-48D4-95E9-BEF9B1EC224F}"/>
              </a:ext>
            </a:extLst>
          </p:cNvPr>
          <p:cNvSpPr/>
          <p:nvPr/>
        </p:nvSpPr>
        <p:spPr>
          <a:xfrm>
            <a:off x="351222" y="6082056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7030A0"/>
          </a:solidFill>
          <a:ln w="7620">
            <a:solidFill>
              <a:srgbClr val="BDB8DF"/>
            </a:solidFill>
            <a:prstDash val="solid"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txBody>
          <a:bodyPr/>
          <a:lstStyle/>
          <a:p>
            <a:endParaRPr lang="en-IN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1973" y="1488400"/>
            <a:ext cx="6785844" cy="510395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2" name="Rectangle 11"/>
          <p:cNvSpPr/>
          <p:nvPr/>
        </p:nvSpPr>
        <p:spPr>
          <a:xfrm>
            <a:off x="12907478" y="7691450"/>
            <a:ext cx="1636295" cy="5381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2804" y="4058814"/>
            <a:ext cx="10814929" cy="2968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32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Thank you for listening!</a:t>
            </a:r>
          </a:p>
          <a:p>
            <a:pPr marL="0" indent="0" algn="l">
              <a:lnSpc>
                <a:spcPts val="2850"/>
              </a:lnSpc>
              <a:buNone/>
            </a:pPr>
            <a:endParaRPr lang="en-US" sz="3200" dirty="0">
              <a:solidFill>
                <a:srgbClr val="2A2742"/>
              </a:solidFill>
              <a:latin typeface="Arimo" pitchFamily="34" charset="0"/>
              <a:ea typeface="Arimo" pitchFamily="34" charset="-122"/>
              <a:cs typeface="Arimo" pitchFamily="34" charset="-120"/>
            </a:endParaRPr>
          </a:p>
          <a:p>
            <a:r>
              <a:rPr lang="en-US" sz="3200" dirty="0"/>
              <a:t>GitHub repo link: [</a:t>
            </a:r>
            <a:r>
              <a:rPr lang="en-US" sz="3200" dirty="0">
                <a:hlinkClick r:id="rId4" action="ppaction://hlinkfile"/>
              </a:rPr>
              <a:t>https://github.com/sri0402suojee/seqex3.git</a:t>
            </a:r>
            <a:r>
              <a:rPr lang="en-US" sz="3200" dirty="0"/>
              <a:t>]</a:t>
            </a:r>
          </a:p>
          <a:p>
            <a:r>
              <a:rPr lang="en-US" sz="3200" dirty="0"/>
              <a:t>Try it with your own sequences!</a:t>
            </a:r>
          </a:p>
          <a:p>
            <a:endParaRPr lang="en-US" sz="3200" dirty="0"/>
          </a:p>
          <a:p>
            <a:r>
              <a:rPr lang="en-US" sz="32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Ready to answer your questions.</a:t>
            </a:r>
            <a:endParaRPr lang="en-US" sz="3200" dirty="0"/>
          </a:p>
        </p:txBody>
      </p:sp>
      <p:sp>
        <p:nvSpPr>
          <p:cNvPr id="5" name="Rectangle 4"/>
          <p:cNvSpPr/>
          <p:nvPr/>
        </p:nvSpPr>
        <p:spPr>
          <a:xfrm>
            <a:off x="12907478" y="7691450"/>
            <a:ext cx="1636295" cy="5381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343</TotalTime>
  <Words>488</Words>
  <Application>Microsoft Office PowerPoint</Application>
  <PresentationFormat>Custom</PresentationFormat>
  <Paragraphs>111</Paragraphs>
  <Slides>12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 Black</vt:lpstr>
      <vt:lpstr>Arial</vt:lpstr>
      <vt:lpstr>Arimo</vt:lpstr>
      <vt:lpstr>Outfit Extra Bold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Sritama Banerjee</cp:lastModifiedBy>
  <cp:revision>10</cp:revision>
  <dcterms:created xsi:type="dcterms:W3CDTF">2025-04-30T21:12:46Z</dcterms:created>
  <dcterms:modified xsi:type="dcterms:W3CDTF">2025-05-01T13:34:45Z</dcterms:modified>
</cp:coreProperties>
</file>